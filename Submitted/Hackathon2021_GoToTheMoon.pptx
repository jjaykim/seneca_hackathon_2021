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24" r:id="rId5"/>
    <p:sldId id="304" r:id="rId6"/>
    <p:sldId id="315" r:id="rId7"/>
    <p:sldId id="310" r:id="rId8"/>
    <p:sldId id="327" r:id="rId9"/>
    <p:sldId id="311" r:id="rId10"/>
    <p:sldId id="329" r:id="rId11"/>
    <p:sldId id="328" r:id="rId12"/>
    <p:sldId id="330" r:id="rId13"/>
    <p:sldId id="331" r:id="rId14"/>
    <p:sldId id="31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5033" autoAdjust="0"/>
  </p:normalViewPr>
  <p:slideViewPr>
    <p:cSldViewPr snapToGrid="0">
      <p:cViewPr varScale="1">
        <p:scale>
          <a:sx n="116" d="100"/>
          <a:sy n="116" d="100"/>
        </p:scale>
        <p:origin x="120" y="17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91" d="100"/>
          <a:sy n="91" d="100"/>
        </p:scale>
        <p:origin x="356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3/4/2021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3/4/2021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A picture containing logo&#10;&#10;Description automatically generated">
            <a:extLst>
              <a:ext uri="{FF2B5EF4-FFF2-40B4-BE49-F238E27FC236}">
                <a16:creationId xmlns:a16="http://schemas.microsoft.com/office/drawing/2014/main" id="{212C053B-A691-4B45-8767-D3F5B9F46C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559" y="6128951"/>
            <a:ext cx="1249441" cy="72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A05B6A-9124-4DBB-843A-84818A8F79FC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xfrm>
            <a:off x="0" y="-4422"/>
            <a:ext cx="12192000" cy="6858000"/>
          </a:xfrm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Health Care</a:t>
            </a:r>
            <a:br>
              <a:rPr lang="en-US" dirty="0"/>
            </a:br>
            <a:r>
              <a:rPr lang="en-US" dirty="0"/>
              <a:t>Block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FAF4E3-C8A2-4861-A67E-040D885F84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Go To the Moon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March 4, 2021</a:t>
            </a:r>
          </a:p>
          <a:p>
            <a:r>
              <a:rPr lang="en-US" dirty="0"/>
              <a:t>Patient Care Success Team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 descr="A picture containing logo&#10;&#10;Description automatically generated">
            <a:extLst>
              <a:ext uri="{FF2B5EF4-FFF2-40B4-BE49-F238E27FC236}">
                <a16:creationId xmlns:a16="http://schemas.microsoft.com/office/drawing/2014/main" id="{0623F37B-3329-46A1-AA62-6632926628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24529"/>
            <a:ext cx="1249441" cy="72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Team</a:t>
            </a:r>
          </a:p>
        </p:txBody>
      </p:sp>
      <p:pic>
        <p:nvPicPr>
          <p:cNvPr id="46" name="Picture Placeholder 45">
            <a:extLst>
              <a:ext uri="{FF2B5EF4-FFF2-40B4-BE49-F238E27FC236}">
                <a16:creationId xmlns:a16="http://schemas.microsoft.com/office/drawing/2014/main" id="{BBCAE79E-A970-4D29-9B36-494E5FA58585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/>
          <a:srcRect t="6897" b="6897"/>
          <a:stretch/>
        </p:blipFill>
        <p:spPr>
          <a:xfrm>
            <a:off x="2105775" y="2506124"/>
            <a:ext cx="1484985" cy="1280160"/>
          </a:xfrm>
        </p:spPr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CA14AB3-F8C5-4601-B349-EC1B8C7B60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74106" y="4123334"/>
            <a:ext cx="2139696" cy="344312"/>
          </a:xfrm>
        </p:spPr>
        <p:txBody>
          <a:bodyPr/>
          <a:lstStyle/>
          <a:p>
            <a:r>
              <a:rPr lang="en-US" dirty="0" err="1"/>
              <a:t>Jungjoo</a:t>
            </a:r>
            <a:r>
              <a:rPr lang="en-US" dirty="0"/>
              <a:t> Kim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4C14EE69-4487-4814-AC77-72381087B0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84130" y="4538832"/>
            <a:ext cx="2139696" cy="560390"/>
          </a:xfrm>
        </p:spPr>
        <p:txBody>
          <a:bodyPr/>
          <a:lstStyle/>
          <a:p>
            <a:r>
              <a:rPr lang="en-US" dirty="0"/>
              <a:t>Frontend &amp; Backend Developer</a:t>
            </a:r>
          </a:p>
        </p:txBody>
      </p:sp>
      <p:pic>
        <p:nvPicPr>
          <p:cNvPr id="48" name="Picture Placeholder 47">
            <a:extLst>
              <a:ext uri="{FF2B5EF4-FFF2-40B4-BE49-F238E27FC236}">
                <a16:creationId xmlns:a16="http://schemas.microsoft.com/office/drawing/2014/main" id="{3DA3586E-5B97-49E4-B090-AD9D2A9C4F80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3"/>
          <a:srcRect l="6681" r="6681"/>
          <a:stretch/>
        </p:blipFill>
        <p:spPr>
          <a:xfrm>
            <a:off x="4343359" y="2506124"/>
            <a:ext cx="1484985" cy="1280160"/>
          </a:xfrm>
        </p:spPr>
      </p:pic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E83F2E96-9C2D-4D1E-96F8-93A9DB1304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16920" y="4123334"/>
            <a:ext cx="2139696" cy="344312"/>
          </a:xfrm>
        </p:spPr>
        <p:txBody>
          <a:bodyPr/>
          <a:lstStyle/>
          <a:p>
            <a:r>
              <a:rPr lang="en-US" dirty="0" err="1"/>
              <a:t>Hyeonseok</a:t>
            </a:r>
            <a:r>
              <a:rPr lang="en-US" dirty="0"/>
              <a:t> Lee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16921" y="4538832"/>
            <a:ext cx="2139696" cy="344312"/>
          </a:xfrm>
        </p:spPr>
        <p:txBody>
          <a:bodyPr/>
          <a:lstStyle/>
          <a:p>
            <a:r>
              <a:rPr lang="en-US" dirty="0"/>
              <a:t>Frontend &amp; Backend Developer</a:t>
            </a:r>
          </a:p>
        </p:txBody>
      </p:sp>
      <p:pic>
        <p:nvPicPr>
          <p:cNvPr id="50" name="Picture Placeholder 49">
            <a:extLst>
              <a:ext uri="{FF2B5EF4-FFF2-40B4-BE49-F238E27FC236}">
                <a16:creationId xmlns:a16="http://schemas.microsoft.com/office/drawing/2014/main" id="{EC2CC961-DBF2-4A0D-A6B3-7A630D18573F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4"/>
          <a:srcRect t="8220" b="8220"/>
          <a:stretch/>
        </p:blipFill>
        <p:spPr>
          <a:xfrm>
            <a:off x="6580946" y="2506124"/>
            <a:ext cx="1484985" cy="1280160"/>
          </a:xfrm>
        </p:spPr>
      </p:pic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2F15E5CC-C708-41FE-A7A3-053E1BC87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59734" y="4123334"/>
            <a:ext cx="2139696" cy="344312"/>
          </a:xfrm>
        </p:spPr>
        <p:txBody>
          <a:bodyPr/>
          <a:lstStyle/>
          <a:p>
            <a:r>
              <a:rPr lang="en-US" dirty="0"/>
              <a:t>Minho Lee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F4ED7E2-1BC8-493D-91C3-FB23BE9F24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56639" y="4538832"/>
            <a:ext cx="2139696" cy="344312"/>
          </a:xfrm>
        </p:spPr>
        <p:txBody>
          <a:bodyPr/>
          <a:lstStyle/>
          <a:p>
            <a:r>
              <a:rPr lang="en-US" dirty="0"/>
              <a:t>UX Designer</a:t>
            </a:r>
          </a:p>
        </p:txBody>
      </p:sp>
      <p:pic>
        <p:nvPicPr>
          <p:cNvPr id="52" name="Picture Placeholder 51">
            <a:extLst>
              <a:ext uri="{FF2B5EF4-FFF2-40B4-BE49-F238E27FC236}">
                <a16:creationId xmlns:a16="http://schemas.microsoft.com/office/drawing/2014/main" id="{E531F544-C55C-4602-B4B8-F5660B7ED48E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5"/>
          <a:srcRect l="13750" r="13750"/>
          <a:stretch/>
        </p:blipFill>
        <p:spPr>
          <a:xfrm>
            <a:off x="8829903" y="2506124"/>
            <a:ext cx="1484985" cy="1280160"/>
          </a:xfrm>
        </p:spPr>
      </p:pic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600F09FF-0051-4C2F-8747-35EDBE996D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502548" y="4123334"/>
            <a:ext cx="2139696" cy="344312"/>
          </a:xfrm>
        </p:spPr>
        <p:txBody>
          <a:bodyPr/>
          <a:lstStyle/>
          <a:p>
            <a:r>
              <a:rPr lang="en-US" dirty="0"/>
              <a:t>Jason Jun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525FBF8-C8AC-493A-AC3E-6E93DBC80B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02549" y="4538832"/>
            <a:ext cx="2139696" cy="344312"/>
          </a:xfrm>
        </p:spPr>
        <p:txBody>
          <a:bodyPr/>
          <a:lstStyle/>
          <a:p>
            <a:r>
              <a:rPr lang="en-US" dirty="0"/>
              <a:t>Project Manager</a:t>
            </a:r>
          </a:p>
        </p:txBody>
      </p:sp>
      <p:pic>
        <p:nvPicPr>
          <p:cNvPr id="24" name="Picture 23" descr="Shape&#10;&#10;Description automatically generated with medium confidence">
            <a:extLst>
              <a:ext uri="{FF2B5EF4-FFF2-40B4-BE49-F238E27FC236}">
                <a16:creationId xmlns:a16="http://schemas.microsoft.com/office/drawing/2014/main" id="{88D24BA1-A738-4F8C-8483-D37D9D85B4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6" y="6128950"/>
            <a:ext cx="1249440" cy="72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EF53E3-F88C-4203-A489-8C9D57513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F03AADD-A4FE-4CE8-944C-3F9C9777F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727146" cy="424077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Patients want to manage their own medical history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Problems with personal healthcare records application system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solve these problems, Blockchain can be used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Make Blockchain to contain both hospital and patients’ own data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Placeholder 3" descr="close up of building">
            <a:extLst>
              <a:ext uri="{FF2B5EF4-FFF2-40B4-BE49-F238E27FC236}">
                <a16:creationId xmlns:a16="http://schemas.microsoft.com/office/drawing/2014/main" id="{5EAB7860-C105-46A8-8B51-C886DCFAB52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2544" r="22544"/>
          <a:stretch>
            <a:fillRect/>
          </a:stretch>
        </p:blipFill>
        <p:spPr/>
      </p:pic>
      <p:pic>
        <p:nvPicPr>
          <p:cNvPr id="6" name="Picture 5" descr="Shape&#10;&#10;Description automatically generated with medium confidence">
            <a:extLst>
              <a:ext uri="{FF2B5EF4-FFF2-40B4-BE49-F238E27FC236}">
                <a16:creationId xmlns:a16="http://schemas.microsoft.com/office/drawing/2014/main" id="{B3A6DFF0-11AB-4E04-9F89-F5201B80E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" y="6128950"/>
            <a:ext cx="1249440" cy="72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7E6D6-C63D-4A7C-B1F1-1E8117B25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4644769" cy="830997"/>
          </a:xfrm>
        </p:spPr>
        <p:txBody>
          <a:bodyPr/>
          <a:lstStyle/>
          <a:p>
            <a:r>
              <a:rPr lang="en-US" dirty="0"/>
              <a:t>Vision / Solution</a:t>
            </a:r>
          </a:p>
          <a:p>
            <a:endParaRPr lang="en-US" dirty="0"/>
          </a:p>
        </p:txBody>
      </p:sp>
      <p:pic>
        <p:nvPicPr>
          <p:cNvPr id="25" name="Picture Placeholder 4" descr="close up of building">
            <a:extLst>
              <a:ext uri="{FF2B5EF4-FFF2-40B4-BE49-F238E27FC236}">
                <a16:creationId xmlns:a16="http://schemas.microsoft.com/office/drawing/2014/main" id="{B43125FE-4923-4B38-ADD6-3F547696AB1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2"/>
          <a:srcRect t="10082" b="10082"/>
          <a:stretch/>
        </p:blipFill>
        <p:spPr>
          <a:xfrm>
            <a:off x="9261475" y="0"/>
            <a:ext cx="2930525" cy="1560513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127DC06-E3ED-47AA-A80C-6DC3AB8A23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Business Opportunities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6982E48-3FB5-4F2E-AE87-E5E0838657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3307148"/>
          </a:xfrm>
        </p:spPr>
        <p:txBody>
          <a:bodyPr/>
          <a:lstStyle/>
          <a:p>
            <a:r>
              <a:rPr lang="en-US" dirty="0"/>
              <a:t>Insurance companies hold hand with patients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Insurance companies gain more customers</a:t>
            </a:r>
          </a:p>
          <a:p>
            <a:endParaRPr lang="en-US" dirty="0"/>
          </a:p>
          <a:p>
            <a:r>
              <a:rPr lang="en-US" dirty="0"/>
              <a:t>Medical data analysis companies will receive all the data</a:t>
            </a:r>
          </a:p>
          <a:p>
            <a:endParaRPr lang="en-US" dirty="0"/>
          </a:p>
          <a:p>
            <a:r>
              <a:rPr lang="en-US" dirty="0"/>
              <a:t>Use blockchain to make sure all the data are kept within it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42BCCC6-6D52-4984-A92F-8B1A8A90321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Patients’ Priorities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5E2CA68-BFC9-485F-A53E-F4C27258EF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Provided with insurance plan</a:t>
            </a:r>
          </a:p>
          <a:p>
            <a:endParaRPr lang="en-US" dirty="0"/>
          </a:p>
          <a:p>
            <a:r>
              <a:rPr lang="en-US" dirty="0"/>
              <a:t>Claim their hospital bill easier and quicker (through Blockchain)</a:t>
            </a:r>
          </a:p>
          <a:p>
            <a:endParaRPr lang="en-US" dirty="0"/>
          </a:p>
          <a:p>
            <a:r>
              <a:rPr lang="en-US" dirty="0"/>
              <a:t>Able to choose which medical history they don’t </a:t>
            </a:r>
            <a:r>
              <a:rPr lang="en-CA" dirty="0"/>
              <a:t>want</a:t>
            </a:r>
            <a:r>
              <a:rPr lang="ko-KR" altLang="en-US" dirty="0"/>
              <a:t> </a:t>
            </a:r>
            <a:r>
              <a:rPr lang="en-CA" altLang="ko-KR" dirty="0"/>
              <a:t>to</a:t>
            </a:r>
            <a:r>
              <a:rPr lang="ko-KR" altLang="en-US" dirty="0"/>
              <a:t> </a:t>
            </a:r>
            <a:r>
              <a:rPr lang="en-CA" altLang="ko-KR" dirty="0"/>
              <a:t>show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pic>
        <p:nvPicPr>
          <p:cNvPr id="10" name="Picture 9" descr="Shape&#10;&#10;Description automatically generated with medium confidence">
            <a:extLst>
              <a:ext uri="{FF2B5EF4-FFF2-40B4-BE49-F238E27FC236}">
                <a16:creationId xmlns:a16="http://schemas.microsoft.com/office/drawing/2014/main" id="{945AF679-F2D5-4654-909D-EA619671E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" y="6128950"/>
            <a:ext cx="1249440" cy="72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378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Reflection of city at dusk on mirrored building">
            <a:extLst>
              <a:ext uri="{FF2B5EF4-FFF2-40B4-BE49-F238E27FC236}">
                <a16:creationId xmlns:a16="http://schemas.microsoft.com/office/drawing/2014/main" id="{80F641B8-D4CB-4B34-AF57-A526981DEDA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80000"/>
          </a:blip>
          <a:srcRect t="6692" b="6692"/>
          <a:stretch/>
        </p:blipFill>
        <p:spPr>
          <a:xfrm>
            <a:off x="-5606" y="0"/>
            <a:ext cx="12192000" cy="6858000"/>
          </a:xfr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48461F53-81E4-4F48-8B4D-56B6013B1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9852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0CA4A65-0235-4CB2-B09E-4E2D8F223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6190" y="2051451"/>
            <a:ext cx="4431057" cy="2983077"/>
          </a:xfrm>
        </p:spPr>
        <p:txBody>
          <a:bodyPr/>
          <a:lstStyle/>
          <a:p>
            <a:pPr rtl="0" eaLnBrk="1" latinLnBrk="0" hangingPunct="1"/>
            <a:r>
              <a:rPr lang="en-US" dirty="0">
                <a:solidFill>
                  <a:srgbClr val="FFFFFF"/>
                </a:solidFill>
                <a:latin typeface="Calibri Light" panose="020F0302020204030204" pitchFamily="34" charset="0"/>
                <a:ea typeface="+mn-ea"/>
                <a:cs typeface="+mn-cs"/>
              </a:rPr>
              <a:t>Alex has a chemical abuse history and wants it to be kept hidden.</a:t>
            </a:r>
            <a:br>
              <a:rPr lang="en-US" dirty="0">
                <a:solidFill>
                  <a:srgbClr val="FFFFFF"/>
                </a:solidFill>
                <a:latin typeface="Calibri Light" panose="020F0302020204030204" pitchFamily="34" charset="0"/>
                <a:ea typeface="+mn-ea"/>
                <a:cs typeface="+mn-cs"/>
              </a:rPr>
            </a:br>
            <a:br>
              <a:rPr lang="en-US" dirty="0">
                <a:solidFill>
                  <a:srgbClr val="FFFFFF"/>
                </a:solidFill>
                <a:latin typeface="Calibri Light" panose="020F0302020204030204" pitchFamily="34" charset="0"/>
                <a:ea typeface="+mn-ea"/>
                <a:cs typeface="+mn-cs"/>
              </a:rPr>
            </a:br>
            <a:r>
              <a:rPr lang="en-US" dirty="0">
                <a:solidFill>
                  <a:srgbClr val="FFFFFF"/>
                </a:solidFill>
                <a:latin typeface="Calibri Light" panose="020F0302020204030204" pitchFamily="34" charset="0"/>
                <a:ea typeface="+mn-ea"/>
                <a:cs typeface="+mn-cs"/>
              </a:rPr>
              <a:t>At the same time, he doesn’t have enough money to go to hospital and get treated.</a:t>
            </a:r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33AD71F-DA66-44DD-B812-447839E53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7CF27D1-2BD8-40D7-A92B-834F8A4F7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90F2B13-F976-4C2D-883C-E495CDF04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7DE5458-0766-49A5-8982-EF9557A6BB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45678" y="1396339"/>
            <a:ext cx="3924934" cy="490538"/>
          </a:xfrm>
        </p:spPr>
        <p:txBody>
          <a:bodyPr/>
          <a:lstStyle/>
          <a:p>
            <a:r>
              <a:rPr lang="en-US" sz="3000" dirty="0"/>
              <a:t>Scenario</a:t>
            </a:r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85E2BECB-61E7-4979-9DA5-2F53E700A129}"/>
              </a:ext>
            </a:extLst>
          </p:cNvPr>
          <p:cNvSpPr txBox="1">
            <a:spLocks/>
          </p:cNvSpPr>
          <p:nvPr/>
        </p:nvSpPr>
        <p:spPr>
          <a:xfrm>
            <a:off x="4138128" y="4286867"/>
            <a:ext cx="4007183" cy="129061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None/>
              <a:defRPr sz="2800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12" name="Picture 11" descr="A picture containing logo&#10;&#10;Description automatically generated">
            <a:extLst>
              <a:ext uri="{FF2B5EF4-FFF2-40B4-BE49-F238E27FC236}">
                <a16:creationId xmlns:a16="http://schemas.microsoft.com/office/drawing/2014/main" id="{D3D00D07-1345-4CE2-8A7D-7D983F1D5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" y="6128951"/>
            <a:ext cx="1249441" cy="72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173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B89E9C66-E38F-4FFF-B1A6-BA4E05DD8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</a:t>
            </a:r>
            <a:br>
              <a:rPr lang="en-US" dirty="0"/>
            </a:br>
            <a:endParaRPr lang="en-US" dirty="0"/>
          </a:p>
        </p:txBody>
      </p:sp>
      <p:pic>
        <p:nvPicPr>
          <p:cNvPr id="42" name="Picture Placeholder 3" descr="close up of building">
            <a:extLst>
              <a:ext uri="{FF2B5EF4-FFF2-40B4-BE49-F238E27FC236}">
                <a16:creationId xmlns:a16="http://schemas.microsoft.com/office/drawing/2014/main" id="{5A9FCEFE-ADCB-4861-8CEA-A074136512A6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/>
          <a:srcRect t="13712" b="13712"/>
          <a:stretch>
            <a:fillRect/>
          </a:stretch>
        </p:blipFill>
        <p:spPr>
          <a:xfrm>
            <a:off x="9393238" y="0"/>
            <a:ext cx="2798762" cy="1354138"/>
          </a:xfrm>
          <a:custGeom>
            <a:avLst/>
            <a:gdLst>
              <a:gd name="connsiteX0" fmla="*/ 316595 w 2798762"/>
              <a:gd name="connsiteY0" fmla="*/ 369378 h 1635849"/>
              <a:gd name="connsiteX1" fmla="*/ 1152465 w 2798762"/>
              <a:gd name="connsiteY1" fmla="*/ 369378 h 1635849"/>
              <a:gd name="connsiteX2" fmla="*/ 1469083 w 2798762"/>
              <a:gd name="connsiteY2" fmla="*/ 1002614 h 1635849"/>
              <a:gd name="connsiteX3" fmla="*/ 1152465 w 2798762"/>
              <a:gd name="connsiteY3" fmla="*/ 1635849 h 1635849"/>
              <a:gd name="connsiteX4" fmla="*/ 316595 w 2798762"/>
              <a:gd name="connsiteY4" fmla="*/ 1635849 h 1635849"/>
              <a:gd name="connsiteX5" fmla="*/ 0 w 2798762"/>
              <a:gd name="connsiteY5" fmla="*/ 1002660 h 1635849"/>
              <a:gd name="connsiteX6" fmla="*/ 0 w 2798762"/>
              <a:gd name="connsiteY6" fmla="*/ 1002568 h 1635849"/>
              <a:gd name="connsiteX7" fmla="*/ 1193125 w 2798762"/>
              <a:gd name="connsiteY7" fmla="*/ 0 h 1635849"/>
              <a:gd name="connsiteX8" fmla="*/ 2798762 w 2798762"/>
              <a:gd name="connsiteY8" fmla="*/ 0 h 1635849"/>
              <a:gd name="connsiteX9" fmla="*/ 2798762 w 2798762"/>
              <a:gd name="connsiteY9" fmla="*/ 786966 h 1635849"/>
              <a:gd name="connsiteX10" fmla="*/ 2719777 w 2798762"/>
              <a:gd name="connsiteY10" fmla="*/ 944936 h 1635849"/>
              <a:gd name="connsiteX11" fmla="*/ 1582346 w 2798762"/>
              <a:gd name="connsiteY11" fmla="*/ 944936 h 1635849"/>
              <a:gd name="connsiteX12" fmla="*/ 1151501 w 2798762"/>
              <a:gd name="connsiteY12" fmla="*/ 83246 h 1635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98762" h="1635849">
                <a:moveTo>
                  <a:pt x="316595" y="369378"/>
                </a:moveTo>
                <a:lnTo>
                  <a:pt x="1152465" y="369378"/>
                </a:lnTo>
                <a:lnTo>
                  <a:pt x="1469083" y="1002614"/>
                </a:lnTo>
                <a:lnTo>
                  <a:pt x="1152465" y="1635849"/>
                </a:lnTo>
                <a:lnTo>
                  <a:pt x="316595" y="1635849"/>
                </a:lnTo>
                <a:lnTo>
                  <a:pt x="0" y="1002660"/>
                </a:lnTo>
                <a:lnTo>
                  <a:pt x="0" y="1002568"/>
                </a:lnTo>
                <a:close/>
                <a:moveTo>
                  <a:pt x="1193125" y="0"/>
                </a:moveTo>
                <a:lnTo>
                  <a:pt x="2798762" y="0"/>
                </a:lnTo>
                <a:lnTo>
                  <a:pt x="2798762" y="786966"/>
                </a:lnTo>
                <a:lnTo>
                  <a:pt x="2719777" y="944936"/>
                </a:lnTo>
                <a:lnTo>
                  <a:pt x="1582346" y="944936"/>
                </a:lnTo>
                <a:lnTo>
                  <a:pt x="1151501" y="83246"/>
                </a:lnTo>
                <a:close/>
              </a:path>
            </a:pathLst>
          </a:custGeom>
        </p:spPr>
      </p:pic>
      <p:pic>
        <p:nvPicPr>
          <p:cNvPr id="22" name="Picture 21" descr="Shape&#10;&#10;Description automatically generated with medium confidence">
            <a:extLst>
              <a:ext uri="{FF2B5EF4-FFF2-40B4-BE49-F238E27FC236}">
                <a16:creationId xmlns:a16="http://schemas.microsoft.com/office/drawing/2014/main" id="{CFF66D07-6F64-4524-9A1D-DF5AE3BE0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" y="6128950"/>
            <a:ext cx="1249440" cy="729049"/>
          </a:xfrm>
          <a:prstGeom prst="rect">
            <a:avLst/>
          </a:prstGeom>
        </p:spPr>
      </p:pic>
      <p:pic>
        <p:nvPicPr>
          <p:cNvPr id="4" name="Picture 3" descr="Graphical user interface&#10;&#10;Description automatically generated">
            <a:extLst>
              <a:ext uri="{FF2B5EF4-FFF2-40B4-BE49-F238E27FC236}">
                <a16:creationId xmlns:a16="http://schemas.microsoft.com/office/drawing/2014/main" id="{B2F4E88C-9A54-43BA-8915-61D579EBDA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634" y="1980752"/>
            <a:ext cx="7984732" cy="419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608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B89E9C66-E38F-4FFF-B1A6-BA4E05DD8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</a:t>
            </a:r>
            <a:br>
              <a:rPr lang="en-US" dirty="0"/>
            </a:br>
            <a:endParaRPr lang="en-US" dirty="0"/>
          </a:p>
        </p:txBody>
      </p:sp>
      <p:pic>
        <p:nvPicPr>
          <p:cNvPr id="42" name="Picture Placeholder 3" descr="close up of building">
            <a:extLst>
              <a:ext uri="{FF2B5EF4-FFF2-40B4-BE49-F238E27FC236}">
                <a16:creationId xmlns:a16="http://schemas.microsoft.com/office/drawing/2014/main" id="{5A9FCEFE-ADCB-4861-8CEA-A074136512A6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/>
          <a:srcRect t="13712" b="13712"/>
          <a:stretch>
            <a:fillRect/>
          </a:stretch>
        </p:blipFill>
        <p:spPr>
          <a:xfrm>
            <a:off x="9393238" y="0"/>
            <a:ext cx="2798762" cy="1354138"/>
          </a:xfrm>
          <a:custGeom>
            <a:avLst/>
            <a:gdLst>
              <a:gd name="connsiteX0" fmla="*/ 316595 w 2798762"/>
              <a:gd name="connsiteY0" fmla="*/ 369378 h 1635849"/>
              <a:gd name="connsiteX1" fmla="*/ 1152465 w 2798762"/>
              <a:gd name="connsiteY1" fmla="*/ 369378 h 1635849"/>
              <a:gd name="connsiteX2" fmla="*/ 1469083 w 2798762"/>
              <a:gd name="connsiteY2" fmla="*/ 1002614 h 1635849"/>
              <a:gd name="connsiteX3" fmla="*/ 1152465 w 2798762"/>
              <a:gd name="connsiteY3" fmla="*/ 1635849 h 1635849"/>
              <a:gd name="connsiteX4" fmla="*/ 316595 w 2798762"/>
              <a:gd name="connsiteY4" fmla="*/ 1635849 h 1635849"/>
              <a:gd name="connsiteX5" fmla="*/ 0 w 2798762"/>
              <a:gd name="connsiteY5" fmla="*/ 1002660 h 1635849"/>
              <a:gd name="connsiteX6" fmla="*/ 0 w 2798762"/>
              <a:gd name="connsiteY6" fmla="*/ 1002568 h 1635849"/>
              <a:gd name="connsiteX7" fmla="*/ 1193125 w 2798762"/>
              <a:gd name="connsiteY7" fmla="*/ 0 h 1635849"/>
              <a:gd name="connsiteX8" fmla="*/ 2798762 w 2798762"/>
              <a:gd name="connsiteY8" fmla="*/ 0 h 1635849"/>
              <a:gd name="connsiteX9" fmla="*/ 2798762 w 2798762"/>
              <a:gd name="connsiteY9" fmla="*/ 786966 h 1635849"/>
              <a:gd name="connsiteX10" fmla="*/ 2719777 w 2798762"/>
              <a:gd name="connsiteY10" fmla="*/ 944936 h 1635849"/>
              <a:gd name="connsiteX11" fmla="*/ 1582346 w 2798762"/>
              <a:gd name="connsiteY11" fmla="*/ 944936 h 1635849"/>
              <a:gd name="connsiteX12" fmla="*/ 1151501 w 2798762"/>
              <a:gd name="connsiteY12" fmla="*/ 83246 h 1635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98762" h="1635849">
                <a:moveTo>
                  <a:pt x="316595" y="369378"/>
                </a:moveTo>
                <a:lnTo>
                  <a:pt x="1152465" y="369378"/>
                </a:lnTo>
                <a:lnTo>
                  <a:pt x="1469083" y="1002614"/>
                </a:lnTo>
                <a:lnTo>
                  <a:pt x="1152465" y="1635849"/>
                </a:lnTo>
                <a:lnTo>
                  <a:pt x="316595" y="1635849"/>
                </a:lnTo>
                <a:lnTo>
                  <a:pt x="0" y="1002660"/>
                </a:lnTo>
                <a:lnTo>
                  <a:pt x="0" y="1002568"/>
                </a:lnTo>
                <a:close/>
                <a:moveTo>
                  <a:pt x="1193125" y="0"/>
                </a:moveTo>
                <a:lnTo>
                  <a:pt x="2798762" y="0"/>
                </a:lnTo>
                <a:lnTo>
                  <a:pt x="2798762" y="786966"/>
                </a:lnTo>
                <a:lnTo>
                  <a:pt x="2719777" y="944936"/>
                </a:lnTo>
                <a:lnTo>
                  <a:pt x="1582346" y="944936"/>
                </a:lnTo>
                <a:lnTo>
                  <a:pt x="1151501" y="83246"/>
                </a:lnTo>
                <a:close/>
              </a:path>
            </a:pathLst>
          </a:custGeom>
        </p:spPr>
      </p:pic>
      <p:pic>
        <p:nvPicPr>
          <p:cNvPr id="22" name="Picture 21" descr="Shape&#10;&#10;Description automatically generated with medium confidence">
            <a:extLst>
              <a:ext uri="{FF2B5EF4-FFF2-40B4-BE49-F238E27FC236}">
                <a16:creationId xmlns:a16="http://schemas.microsoft.com/office/drawing/2014/main" id="{CFF66D07-6F64-4524-9A1D-DF5AE3BE0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" y="6128950"/>
            <a:ext cx="1249440" cy="729049"/>
          </a:xfrm>
          <a:prstGeom prst="rect">
            <a:avLst/>
          </a:prstGeom>
        </p:spPr>
      </p:pic>
      <p:pic>
        <p:nvPicPr>
          <p:cNvPr id="7" name="Picture 6" descr="Graphical user interface, application, website&#10;&#10;Description automatically generated">
            <a:extLst>
              <a:ext uri="{FF2B5EF4-FFF2-40B4-BE49-F238E27FC236}">
                <a16:creationId xmlns:a16="http://schemas.microsoft.com/office/drawing/2014/main" id="{89B544A6-9378-48B3-ABCD-7232FD6C0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757" y="2809297"/>
            <a:ext cx="4560024" cy="1655676"/>
          </a:xfrm>
          <a:prstGeom prst="rect">
            <a:avLst/>
          </a:prstGeom>
        </p:spPr>
      </p:pic>
      <p:pic>
        <p:nvPicPr>
          <p:cNvPr id="9" name="Picture 8" descr="Graphical user interface&#10;&#10;Description automatically generated">
            <a:extLst>
              <a:ext uri="{FF2B5EF4-FFF2-40B4-BE49-F238E27FC236}">
                <a16:creationId xmlns:a16="http://schemas.microsoft.com/office/drawing/2014/main" id="{1D306B69-C622-4788-AA4D-F9335CFA6B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8049" y="2286385"/>
            <a:ext cx="4980939" cy="2911690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086156DD-BC24-427E-86BA-BFC485D2F13C}"/>
              </a:ext>
            </a:extLst>
          </p:cNvPr>
          <p:cNvSpPr/>
          <p:nvPr/>
        </p:nvSpPr>
        <p:spPr>
          <a:xfrm>
            <a:off x="5046385" y="3487983"/>
            <a:ext cx="1145059" cy="50849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9314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B89E9C66-E38F-4FFF-B1A6-BA4E05DD8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</a:t>
            </a:r>
            <a:br>
              <a:rPr lang="en-US" dirty="0"/>
            </a:br>
            <a:endParaRPr lang="en-US" dirty="0"/>
          </a:p>
        </p:txBody>
      </p:sp>
      <p:pic>
        <p:nvPicPr>
          <p:cNvPr id="42" name="Picture Placeholder 3" descr="close up of building">
            <a:extLst>
              <a:ext uri="{FF2B5EF4-FFF2-40B4-BE49-F238E27FC236}">
                <a16:creationId xmlns:a16="http://schemas.microsoft.com/office/drawing/2014/main" id="{5A9FCEFE-ADCB-4861-8CEA-A074136512A6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/>
          <a:srcRect t="13712" b="13712"/>
          <a:stretch>
            <a:fillRect/>
          </a:stretch>
        </p:blipFill>
        <p:spPr>
          <a:xfrm>
            <a:off x="9393238" y="0"/>
            <a:ext cx="2798762" cy="1354138"/>
          </a:xfrm>
          <a:custGeom>
            <a:avLst/>
            <a:gdLst>
              <a:gd name="connsiteX0" fmla="*/ 316595 w 2798762"/>
              <a:gd name="connsiteY0" fmla="*/ 369378 h 1635849"/>
              <a:gd name="connsiteX1" fmla="*/ 1152465 w 2798762"/>
              <a:gd name="connsiteY1" fmla="*/ 369378 h 1635849"/>
              <a:gd name="connsiteX2" fmla="*/ 1469083 w 2798762"/>
              <a:gd name="connsiteY2" fmla="*/ 1002614 h 1635849"/>
              <a:gd name="connsiteX3" fmla="*/ 1152465 w 2798762"/>
              <a:gd name="connsiteY3" fmla="*/ 1635849 h 1635849"/>
              <a:gd name="connsiteX4" fmla="*/ 316595 w 2798762"/>
              <a:gd name="connsiteY4" fmla="*/ 1635849 h 1635849"/>
              <a:gd name="connsiteX5" fmla="*/ 0 w 2798762"/>
              <a:gd name="connsiteY5" fmla="*/ 1002660 h 1635849"/>
              <a:gd name="connsiteX6" fmla="*/ 0 w 2798762"/>
              <a:gd name="connsiteY6" fmla="*/ 1002568 h 1635849"/>
              <a:gd name="connsiteX7" fmla="*/ 1193125 w 2798762"/>
              <a:gd name="connsiteY7" fmla="*/ 0 h 1635849"/>
              <a:gd name="connsiteX8" fmla="*/ 2798762 w 2798762"/>
              <a:gd name="connsiteY8" fmla="*/ 0 h 1635849"/>
              <a:gd name="connsiteX9" fmla="*/ 2798762 w 2798762"/>
              <a:gd name="connsiteY9" fmla="*/ 786966 h 1635849"/>
              <a:gd name="connsiteX10" fmla="*/ 2719777 w 2798762"/>
              <a:gd name="connsiteY10" fmla="*/ 944936 h 1635849"/>
              <a:gd name="connsiteX11" fmla="*/ 1582346 w 2798762"/>
              <a:gd name="connsiteY11" fmla="*/ 944936 h 1635849"/>
              <a:gd name="connsiteX12" fmla="*/ 1151501 w 2798762"/>
              <a:gd name="connsiteY12" fmla="*/ 83246 h 1635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98762" h="1635849">
                <a:moveTo>
                  <a:pt x="316595" y="369378"/>
                </a:moveTo>
                <a:lnTo>
                  <a:pt x="1152465" y="369378"/>
                </a:lnTo>
                <a:lnTo>
                  <a:pt x="1469083" y="1002614"/>
                </a:lnTo>
                <a:lnTo>
                  <a:pt x="1152465" y="1635849"/>
                </a:lnTo>
                <a:lnTo>
                  <a:pt x="316595" y="1635849"/>
                </a:lnTo>
                <a:lnTo>
                  <a:pt x="0" y="1002660"/>
                </a:lnTo>
                <a:lnTo>
                  <a:pt x="0" y="1002568"/>
                </a:lnTo>
                <a:close/>
                <a:moveTo>
                  <a:pt x="1193125" y="0"/>
                </a:moveTo>
                <a:lnTo>
                  <a:pt x="2798762" y="0"/>
                </a:lnTo>
                <a:lnTo>
                  <a:pt x="2798762" y="786966"/>
                </a:lnTo>
                <a:lnTo>
                  <a:pt x="2719777" y="944936"/>
                </a:lnTo>
                <a:lnTo>
                  <a:pt x="1582346" y="944936"/>
                </a:lnTo>
                <a:lnTo>
                  <a:pt x="1151501" y="83246"/>
                </a:lnTo>
                <a:close/>
              </a:path>
            </a:pathLst>
          </a:custGeom>
        </p:spPr>
      </p:pic>
      <p:pic>
        <p:nvPicPr>
          <p:cNvPr id="22" name="Picture 21" descr="Shape&#10;&#10;Description automatically generated with medium confidence">
            <a:extLst>
              <a:ext uri="{FF2B5EF4-FFF2-40B4-BE49-F238E27FC236}">
                <a16:creationId xmlns:a16="http://schemas.microsoft.com/office/drawing/2014/main" id="{CFF66D07-6F64-4524-9A1D-DF5AE3BE0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" y="6128950"/>
            <a:ext cx="1249440" cy="729049"/>
          </a:xfrm>
          <a:prstGeom prst="rect">
            <a:avLst/>
          </a:prstGeom>
        </p:spPr>
      </p:pic>
      <p:pic>
        <p:nvPicPr>
          <p:cNvPr id="6" name="Picture 5" descr="Graphical user interface&#10;&#10;Description automatically generated">
            <a:extLst>
              <a:ext uri="{FF2B5EF4-FFF2-40B4-BE49-F238E27FC236}">
                <a16:creationId xmlns:a16="http://schemas.microsoft.com/office/drawing/2014/main" id="{71E41710-E4B0-49D0-8201-BEE3D7F433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62" y="2332418"/>
            <a:ext cx="4713992" cy="3518973"/>
          </a:xfrm>
          <a:prstGeom prst="rect">
            <a:avLst/>
          </a:prstGeom>
        </p:spPr>
      </p:pic>
      <p:pic>
        <p:nvPicPr>
          <p:cNvPr id="8" name="Picture 7" descr="Table&#10;&#10;Description automatically generated">
            <a:extLst>
              <a:ext uri="{FF2B5EF4-FFF2-40B4-BE49-F238E27FC236}">
                <a16:creationId xmlns:a16="http://schemas.microsoft.com/office/drawing/2014/main" id="{579CE6AC-506F-4ABD-A803-0E3706DCEB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0" y="1869512"/>
            <a:ext cx="4433703" cy="4444787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C5DE218A-B8B9-4274-9F94-D9786D87E4F3}"/>
              </a:ext>
            </a:extLst>
          </p:cNvPr>
          <p:cNvSpPr/>
          <p:nvPr/>
        </p:nvSpPr>
        <p:spPr>
          <a:xfrm>
            <a:off x="5486401" y="4028303"/>
            <a:ext cx="1062680" cy="59312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6641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B89E9C66-E38F-4FFF-B1A6-BA4E05DD8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</a:t>
            </a:r>
            <a:br>
              <a:rPr lang="en-US" dirty="0"/>
            </a:br>
            <a:endParaRPr lang="en-US" dirty="0"/>
          </a:p>
        </p:txBody>
      </p:sp>
      <p:pic>
        <p:nvPicPr>
          <p:cNvPr id="42" name="Picture Placeholder 3" descr="close up of building">
            <a:extLst>
              <a:ext uri="{FF2B5EF4-FFF2-40B4-BE49-F238E27FC236}">
                <a16:creationId xmlns:a16="http://schemas.microsoft.com/office/drawing/2014/main" id="{5A9FCEFE-ADCB-4861-8CEA-A074136512A6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/>
          <a:srcRect t="13712" b="13712"/>
          <a:stretch>
            <a:fillRect/>
          </a:stretch>
        </p:blipFill>
        <p:spPr>
          <a:xfrm>
            <a:off x="9393238" y="0"/>
            <a:ext cx="2798762" cy="1354138"/>
          </a:xfrm>
          <a:custGeom>
            <a:avLst/>
            <a:gdLst>
              <a:gd name="connsiteX0" fmla="*/ 316595 w 2798762"/>
              <a:gd name="connsiteY0" fmla="*/ 369378 h 1635849"/>
              <a:gd name="connsiteX1" fmla="*/ 1152465 w 2798762"/>
              <a:gd name="connsiteY1" fmla="*/ 369378 h 1635849"/>
              <a:gd name="connsiteX2" fmla="*/ 1469083 w 2798762"/>
              <a:gd name="connsiteY2" fmla="*/ 1002614 h 1635849"/>
              <a:gd name="connsiteX3" fmla="*/ 1152465 w 2798762"/>
              <a:gd name="connsiteY3" fmla="*/ 1635849 h 1635849"/>
              <a:gd name="connsiteX4" fmla="*/ 316595 w 2798762"/>
              <a:gd name="connsiteY4" fmla="*/ 1635849 h 1635849"/>
              <a:gd name="connsiteX5" fmla="*/ 0 w 2798762"/>
              <a:gd name="connsiteY5" fmla="*/ 1002660 h 1635849"/>
              <a:gd name="connsiteX6" fmla="*/ 0 w 2798762"/>
              <a:gd name="connsiteY6" fmla="*/ 1002568 h 1635849"/>
              <a:gd name="connsiteX7" fmla="*/ 1193125 w 2798762"/>
              <a:gd name="connsiteY7" fmla="*/ 0 h 1635849"/>
              <a:gd name="connsiteX8" fmla="*/ 2798762 w 2798762"/>
              <a:gd name="connsiteY8" fmla="*/ 0 h 1635849"/>
              <a:gd name="connsiteX9" fmla="*/ 2798762 w 2798762"/>
              <a:gd name="connsiteY9" fmla="*/ 786966 h 1635849"/>
              <a:gd name="connsiteX10" fmla="*/ 2719777 w 2798762"/>
              <a:gd name="connsiteY10" fmla="*/ 944936 h 1635849"/>
              <a:gd name="connsiteX11" fmla="*/ 1582346 w 2798762"/>
              <a:gd name="connsiteY11" fmla="*/ 944936 h 1635849"/>
              <a:gd name="connsiteX12" fmla="*/ 1151501 w 2798762"/>
              <a:gd name="connsiteY12" fmla="*/ 83246 h 1635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98762" h="1635849">
                <a:moveTo>
                  <a:pt x="316595" y="369378"/>
                </a:moveTo>
                <a:lnTo>
                  <a:pt x="1152465" y="369378"/>
                </a:lnTo>
                <a:lnTo>
                  <a:pt x="1469083" y="1002614"/>
                </a:lnTo>
                <a:lnTo>
                  <a:pt x="1152465" y="1635849"/>
                </a:lnTo>
                <a:lnTo>
                  <a:pt x="316595" y="1635849"/>
                </a:lnTo>
                <a:lnTo>
                  <a:pt x="0" y="1002660"/>
                </a:lnTo>
                <a:lnTo>
                  <a:pt x="0" y="1002568"/>
                </a:lnTo>
                <a:close/>
                <a:moveTo>
                  <a:pt x="1193125" y="0"/>
                </a:moveTo>
                <a:lnTo>
                  <a:pt x="2798762" y="0"/>
                </a:lnTo>
                <a:lnTo>
                  <a:pt x="2798762" y="786966"/>
                </a:lnTo>
                <a:lnTo>
                  <a:pt x="2719777" y="944936"/>
                </a:lnTo>
                <a:lnTo>
                  <a:pt x="1582346" y="944936"/>
                </a:lnTo>
                <a:lnTo>
                  <a:pt x="1151501" y="83246"/>
                </a:lnTo>
                <a:close/>
              </a:path>
            </a:pathLst>
          </a:custGeom>
        </p:spPr>
      </p:pic>
      <p:pic>
        <p:nvPicPr>
          <p:cNvPr id="22" name="Picture 21" descr="Shape&#10;&#10;Description automatically generated with medium confidence">
            <a:extLst>
              <a:ext uri="{FF2B5EF4-FFF2-40B4-BE49-F238E27FC236}">
                <a16:creationId xmlns:a16="http://schemas.microsoft.com/office/drawing/2014/main" id="{CFF66D07-6F64-4524-9A1D-DF5AE3BE0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" y="6128950"/>
            <a:ext cx="1249440" cy="729049"/>
          </a:xfrm>
          <a:prstGeom prst="rect">
            <a:avLst/>
          </a:prstGeom>
        </p:spPr>
      </p:pic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A51CF98F-0410-428B-BEFA-6D3FF7721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26" y="1895279"/>
            <a:ext cx="4289260" cy="3858850"/>
          </a:xfrm>
          <a:prstGeom prst="rect">
            <a:avLst/>
          </a:prstGeom>
        </p:spPr>
      </p:pic>
      <p:pic>
        <p:nvPicPr>
          <p:cNvPr id="5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D9FD9EC2-9897-4B6E-B430-F7C7A2D870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2679" y="1854088"/>
            <a:ext cx="4119940" cy="3941232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BE96075C-DB57-45B8-ADA6-29C017F560AB}"/>
              </a:ext>
            </a:extLst>
          </p:cNvPr>
          <p:cNvSpPr/>
          <p:nvPr/>
        </p:nvSpPr>
        <p:spPr>
          <a:xfrm>
            <a:off x="5263978" y="3591697"/>
            <a:ext cx="1178011" cy="52722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5509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B89E9C66-E38F-4FFF-B1A6-BA4E05DD8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</a:t>
            </a:r>
            <a:br>
              <a:rPr lang="en-US" dirty="0"/>
            </a:br>
            <a:endParaRPr lang="en-US" dirty="0"/>
          </a:p>
        </p:txBody>
      </p:sp>
      <p:pic>
        <p:nvPicPr>
          <p:cNvPr id="42" name="Picture Placeholder 3" descr="close up of building">
            <a:extLst>
              <a:ext uri="{FF2B5EF4-FFF2-40B4-BE49-F238E27FC236}">
                <a16:creationId xmlns:a16="http://schemas.microsoft.com/office/drawing/2014/main" id="{5A9FCEFE-ADCB-4861-8CEA-A074136512A6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/>
          <a:srcRect t="13712" b="13712"/>
          <a:stretch>
            <a:fillRect/>
          </a:stretch>
        </p:blipFill>
        <p:spPr>
          <a:xfrm>
            <a:off x="9393238" y="0"/>
            <a:ext cx="2798762" cy="1354138"/>
          </a:xfrm>
          <a:custGeom>
            <a:avLst/>
            <a:gdLst>
              <a:gd name="connsiteX0" fmla="*/ 316595 w 2798762"/>
              <a:gd name="connsiteY0" fmla="*/ 369378 h 1635849"/>
              <a:gd name="connsiteX1" fmla="*/ 1152465 w 2798762"/>
              <a:gd name="connsiteY1" fmla="*/ 369378 h 1635849"/>
              <a:gd name="connsiteX2" fmla="*/ 1469083 w 2798762"/>
              <a:gd name="connsiteY2" fmla="*/ 1002614 h 1635849"/>
              <a:gd name="connsiteX3" fmla="*/ 1152465 w 2798762"/>
              <a:gd name="connsiteY3" fmla="*/ 1635849 h 1635849"/>
              <a:gd name="connsiteX4" fmla="*/ 316595 w 2798762"/>
              <a:gd name="connsiteY4" fmla="*/ 1635849 h 1635849"/>
              <a:gd name="connsiteX5" fmla="*/ 0 w 2798762"/>
              <a:gd name="connsiteY5" fmla="*/ 1002660 h 1635849"/>
              <a:gd name="connsiteX6" fmla="*/ 0 w 2798762"/>
              <a:gd name="connsiteY6" fmla="*/ 1002568 h 1635849"/>
              <a:gd name="connsiteX7" fmla="*/ 1193125 w 2798762"/>
              <a:gd name="connsiteY7" fmla="*/ 0 h 1635849"/>
              <a:gd name="connsiteX8" fmla="*/ 2798762 w 2798762"/>
              <a:gd name="connsiteY8" fmla="*/ 0 h 1635849"/>
              <a:gd name="connsiteX9" fmla="*/ 2798762 w 2798762"/>
              <a:gd name="connsiteY9" fmla="*/ 786966 h 1635849"/>
              <a:gd name="connsiteX10" fmla="*/ 2719777 w 2798762"/>
              <a:gd name="connsiteY10" fmla="*/ 944936 h 1635849"/>
              <a:gd name="connsiteX11" fmla="*/ 1582346 w 2798762"/>
              <a:gd name="connsiteY11" fmla="*/ 944936 h 1635849"/>
              <a:gd name="connsiteX12" fmla="*/ 1151501 w 2798762"/>
              <a:gd name="connsiteY12" fmla="*/ 83246 h 1635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98762" h="1635849">
                <a:moveTo>
                  <a:pt x="316595" y="369378"/>
                </a:moveTo>
                <a:lnTo>
                  <a:pt x="1152465" y="369378"/>
                </a:lnTo>
                <a:lnTo>
                  <a:pt x="1469083" y="1002614"/>
                </a:lnTo>
                <a:lnTo>
                  <a:pt x="1152465" y="1635849"/>
                </a:lnTo>
                <a:lnTo>
                  <a:pt x="316595" y="1635849"/>
                </a:lnTo>
                <a:lnTo>
                  <a:pt x="0" y="1002660"/>
                </a:lnTo>
                <a:lnTo>
                  <a:pt x="0" y="1002568"/>
                </a:lnTo>
                <a:close/>
                <a:moveTo>
                  <a:pt x="1193125" y="0"/>
                </a:moveTo>
                <a:lnTo>
                  <a:pt x="2798762" y="0"/>
                </a:lnTo>
                <a:lnTo>
                  <a:pt x="2798762" y="786966"/>
                </a:lnTo>
                <a:lnTo>
                  <a:pt x="2719777" y="944936"/>
                </a:lnTo>
                <a:lnTo>
                  <a:pt x="1582346" y="944936"/>
                </a:lnTo>
                <a:lnTo>
                  <a:pt x="1151501" y="83246"/>
                </a:lnTo>
                <a:close/>
              </a:path>
            </a:pathLst>
          </a:custGeom>
        </p:spPr>
      </p:pic>
      <p:pic>
        <p:nvPicPr>
          <p:cNvPr id="22" name="Picture 21" descr="Shape&#10;&#10;Description automatically generated with medium confidence">
            <a:extLst>
              <a:ext uri="{FF2B5EF4-FFF2-40B4-BE49-F238E27FC236}">
                <a16:creationId xmlns:a16="http://schemas.microsoft.com/office/drawing/2014/main" id="{CFF66D07-6F64-4524-9A1D-DF5AE3BE0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" y="6128950"/>
            <a:ext cx="1249440" cy="729049"/>
          </a:xfrm>
          <a:prstGeom prst="rect">
            <a:avLst/>
          </a:prstGeom>
        </p:spPr>
      </p:pic>
      <p:pic>
        <p:nvPicPr>
          <p:cNvPr id="3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7DE3753-8A9E-4BA8-AE09-BE1745BB7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0750" y="2423581"/>
            <a:ext cx="5649576" cy="255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633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A4448-4930-46E0-AD53-50021D9DC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F6824-E409-4436-9F53-FF50E9FB0C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0326" y="2357887"/>
            <a:ext cx="4143374" cy="1071113"/>
          </a:xfrm>
        </p:spPr>
        <p:txBody>
          <a:bodyPr/>
          <a:lstStyle/>
          <a:p>
            <a:r>
              <a:rPr lang="en-US" dirty="0"/>
              <a:t>Thank you for listening and we hope you enjoyed the presentation of our idea</a:t>
            </a:r>
          </a:p>
          <a:p>
            <a:endParaRPr lang="en-US" dirty="0"/>
          </a:p>
        </p:txBody>
      </p:sp>
      <p:pic>
        <p:nvPicPr>
          <p:cNvPr id="20" name="Picture Placeholder 8" descr="close up of bridge">
            <a:extLst>
              <a:ext uri="{FF2B5EF4-FFF2-40B4-BE49-F238E27FC236}">
                <a16:creationId xmlns:a16="http://schemas.microsoft.com/office/drawing/2014/main" id="{2EC47CED-7A85-4080-9C7C-3921E48924A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/>
          <a:srcRect l="17082" r="17082"/>
          <a:stretch/>
        </p:blipFill>
        <p:spPr>
          <a:xfrm>
            <a:off x="5888038" y="533400"/>
            <a:ext cx="5541962" cy="5611813"/>
          </a:xfrm>
        </p:spPr>
      </p:pic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EF5130A2-321E-4F01-B53C-646B2630B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" y="6128950"/>
            <a:ext cx="1249440" cy="72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534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3_LW_v2" id="{C590A786-F65F-42F6-9E48-12C78E3C86B3}" vid="{FEE92C9D-6350-4ECD-87A4-004D12BB2B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presentation</Template>
  <TotalTime>1419</TotalTime>
  <Words>202</Words>
  <Application>Microsoft Office PowerPoint</Application>
  <PresentationFormat>Widescreen</PresentationFormat>
  <Paragraphs>47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Corbel</vt:lpstr>
      <vt:lpstr>Wingdings</vt:lpstr>
      <vt:lpstr>Office Theme</vt:lpstr>
      <vt:lpstr>Health Care Block</vt:lpstr>
      <vt:lpstr>Team</vt:lpstr>
      <vt:lpstr>Introduction</vt:lpstr>
      <vt:lpstr>Vision / Solution </vt:lpstr>
      <vt:lpstr>Alex has a chemical abuse history and wants it to be kept hidden.  At the same time, he doesn’t have enough money to go to hospital and get treated.</vt:lpstr>
      <vt:lpstr>Template </vt:lpstr>
      <vt:lpstr>Template </vt:lpstr>
      <vt:lpstr>Template </vt:lpstr>
      <vt:lpstr>Template </vt:lpstr>
      <vt:lpstr>Template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Annual Review</dc:title>
  <dc:creator>Jason Jun</dc:creator>
  <cp:lastModifiedBy>Jason Jun</cp:lastModifiedBy>
  <cp:revision>69</cp:revision>
  <dcterms:created xsi:type="dcterms:W3CDTF">2021-03-03T22:19:37Z</dcterms:created>
  <dcterms:modified xsi:type="dcterms:W3CDTF">2021-03-05T06:20:57Z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